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Supply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8FF"/>
                </a:solidFill>
              </a:rPr>
              <a:t>AI Interview Design   |   Funnel Impact   |   Optimization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3657600" cy="54864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Angela - Supply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ADD"/>
                </a:solidFill>
              </a:rPr>
              <a:t>March 18,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Confidential -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Worker Funnel - 2025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52,987 accounts created &gt; 8,146 first shifts completed (15.4% end-to-end)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5740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2B5E"/>
                </a:solidFill>
              </a:rPr>
              <a:t>52,987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Accounts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05740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32588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7263D"/>
                </a:solidFill>
              </a:rPr>
              <a:t>56.0%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202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Account &gt;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29891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Biggest drop-off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88720"/>
            <a:ext cx="205740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32588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</a:rPr>
              <a:t>36.0%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Reach Platform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29891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Cumulative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188720"/>
            <a:ext cx="205740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32588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</a:rPr>
              <a:t>18.2%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9202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Book a 1st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329891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Cumulative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188720"/>
            <a:ext cx="2057400" cy="1463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19" y="1325880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15.4%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19202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Complete 1st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329891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End-to-end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6B6B"/>
                </a:solidFill>
              </a:rP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6B6B"/>
                </a:solidFill>
              </a:rPr>
              <a:t>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6B6B"/>
                </a:solidFill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6B6B"/>
                </a:solidFill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80360"/>
            <a:ext cx="11640312" cy="3200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9077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Funnel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9077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Stage CR%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907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Cumulative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077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People Lost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200400"/>
            <a:ext cx="11640312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273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Worker Accounts Created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2735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52,987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273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2735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273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703320"/>
            <a:ext cx="11640312" cy="475488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7764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1st Role Verified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37764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29,693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776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56.0%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776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56.0%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776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7263D"/>
                </a:solidFill>
              </a:rPr>
              <a:t>23,294  &lt;&lt; AI Interview drop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06240"/>
            <a:ext cx="11640312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279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1st OB Task Completed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279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27,614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279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93.0%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2793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52.1%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279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</a:rPr>
              <a:t>2,079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709160"/>
            <a:ext cx="11640312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Platform Verified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7823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19,091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69.1%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36.0%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7823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</a:rPr>
              <a:t>8,523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212080"/>
            <a:ext cx="11640312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285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1st Shift Booked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52852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 9,628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5285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63.2%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5285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18.2%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52852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</a:rPr>
              <a:t>9,463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715000"/>
            <a:ext cx="11640312" cy="4754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788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1st Shift Completed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788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 8,146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5788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84.6%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57881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</a:rPr>
              <a:t>15.4%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5788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</a:rPr>
              <a:t>1,482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</a:rPr>
              <a:t>Source: OB Funnel Custom Viewer (44).xlsx - Full Year 2025, 147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Interview: Hidden Friction at the Top of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Question count varies 2x across roles - directly linked to Account &gt; Verified drop-off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5394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539496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7263D"/>
                </a:solidFill>
              </a:rPr>
              <a:t>The Problem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2D2D2D"/>
                </a:solidFill>
              </a:rPr>
              <a:t>44% of workers who create an account never complete role verification - the AI interview is the primary barrier.</a:t>
            </a:r>
          </a:p>
          <a:p>
            <a:pPr algn="l">
              <a:spcBef>
                <a:spcPts val="400"/>
              </a:spcBef>
            </a:pPr>
          </a:p>
          <a:p>
            <a:r>
              <a:rPr sz="1400" b="1">
                <a:solidFill>
                  <a:srgbClr val="002B5E"/>
                </a:solidFill>
              </a:rPr>
              <a:t>Why Question Volume Matters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Shortest interview: 16 questions (Warehouse Clerk)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Longest interview: 32 questions (Housekeeper) - 2x longer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Hospitality avg = 22 Qs vs. Industrial avg = 19 Qs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Hospitality clients convert 40-50% lower than Industrial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Bartender (30 Qs) and Server (29 Qs) = near-max friction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2D2D2D"/>
                </a:solidFill>
              </a:rPr>
              <a:t>  Most hospitality questions are screening-only (0 scored) - no differentiation value</a:t>
            </a:r>
          </a:p>
          <a:p>
            <a:pPr algn="l">
              <a:spcBef>
                <a:spcPts val="400"/>
              </a:spcBef>
            </a:pPr>
          </a:p>
          <a:p>
            <a:r>
              <a:rPr sz="1200" b="1">
                <a:solidFill>
                  <a:srgbClr val="002B5E"/>
                </a:solidFill>
              </a:rPr>
              <a:t>Conversion Gap - Hospitality vs. Industrial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D7263D"/>
                </a:solidFill>
              </a:rPr>
              <a:t>  Merritt Hospitality          7.5%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D7263D"/>
                </a:solidFill>
              </a:rPr>
              <a:t>  Legends Hospitality          8.8%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D7263D"/>
                </a:solidFill>
              </a:rPr>
              <a:t>  LowCountry Catering          11.9%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6B6B6B"/>
                </a:solidFill>
              </a:rPr>
              <a:t>  -- vs. ----------------      ------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7AE60"/>
                </a:solidFill>
              </a:rPr>
              <a:t>  Tennant Solutions            20.3%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7AE60"/>
                </a:solidFill>
              </a:rPr>
              <a:t>  CORT (Industrial)            19.0%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7AE60"/>
                </a:solidFill>
              </a:rPr>
              <a:t>  AFC Industries               14.3%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Interview Length by Role (# Questions)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00200"/>
            <a:ext cx="164592" cy="164592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581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Industrial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600200"/>
            <a:ext cx="164592" cy="16459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581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Hospitality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581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5FB5"/>
                </a:solidFill>
              </a:rPr>
              <a:t>| Avg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5819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7263D"/>
                </a:solidFill>
              </a:rPr>
              <a:t>| Avg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870770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Warehouse Clerk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4988" y="1875434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4988" y="1875434"/>
            <a:ext cx="1680405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1113" y="1875434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103942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Warehouse Operative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4988" y="2108606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4988" y="2108606"/>
            <a:ext cx="1890456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1164" y="2108606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337114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Loader Crew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4988" y="2341778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4988" y="2341778"/>
            <a:ext cx="1785431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6139" y="2341778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570286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Picker Packer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4988" y="2574950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4988" y="2574950"/>
            <a:ext cx="1890456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1164" y="2574950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803458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Assembler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4988" y="2808122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4988" y="2808122"/>
            <a:ext cx="1890456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41164" y="2808122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036630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Material Handler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4988" y="3041294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4988" y="3041294"/>
            <a:ext cx="1995482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6190" y="3041294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3269802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Machine Operator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4988" y="3274466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04988" y="3274466"/>
            <a:ext cx="2100507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1215" y="3274466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502974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Repair Technician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4988" y="3507638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04988" y="3507638"/>
            <a:ext cx="2100507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1215" y="3507638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736146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Industrial General Lab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4988" y="3740810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4988" y="3740810"/>
            <a:ext cx="2415583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66291" y="3740810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3969318"/>
            <a:ext cx="2098548" cy="15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Forklift Driver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4988" y="3973982"/>
            <a:ext cx="3675887" cy="13523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904988" y="3973982"/>
            <a:ext cx="2205532" cy="135239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56240" y="3973982"/>
            <a:ext cx="274320" cy="13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281939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Event Staff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4988" y="4285270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4988" y="4285270"/>
            <a:ext cx="1785431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6139" y="4285270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20" y="4448490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Dishwasher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04988" y="4451821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04988" y="4451821"/>
            <a:ext cx="1785431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36139" y="4451821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0" y="4615042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Busser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04988" y="4618373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04988" y="4618373"/>
            <a:ext cx="1890456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41164" y="4618373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720" y="4781593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Hosp General Labor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04988" y="4784924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904988" y="4784924"/>
            <a:ext cx="1890456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41164" y="4784924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0" y="4948144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Concession Stand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4988" y="4951476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04988" y="4951476"/>
            <a:ext cx="1995482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46190" y="4951476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19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60720" y="5114696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Bar Back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04988" y="5118027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04988" y="5118027"/>
            <a:ext cx="2100507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51215" y="5118027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5281247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Host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04988" y="5284578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904988" y="5284578"/>
            <a:ext cx="2205532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56240" y="5284578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0" y="5447799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Barista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04988" y="5451130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04988" y="5451130"/>
            <a:ext cx="2310558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61266" y="5451130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60720" y="5614350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Prep Cook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04988" y="5617681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04988" y="5617681"/>
            <a:ext cx="2310558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61266" y="5617681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720" y="5780902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Line Cook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04988" y="5784233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904988" y="5784233"/>
            <a:ext cx="2415583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66291" y="5784233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60720" y="5947453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Hosp Team Lead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904988" y="5950784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904988" y="5950784"/>
            <a:ext cx="2520608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471316" y="5950784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760720" y="6114004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Server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04988" y="6117336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904988" y="6117336"/>
            <a:ext cx="3045735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96443" y="6117336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29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60720" y="6280556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Bartender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04988" y="6283887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04988" y="6283887"/>
            <a:ext cx="3150761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101469" y="6283887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30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60720" y="6447107"/>
            <a:ext cx="2098548" cy="108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D2D2D"/>
                </a:solidFill>
              </a:rPr>
              <a:t>Housekeeper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904988" y="6450438"/>
            <a:ext cx="3675887" cy="96599"/>
          </a:xfrm>
          <a:prstGeom prst="rect">
            <a:avLst/>
          </a:prstGeom>
          <a:solidFill>
            <a:srgbClr val="E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04988" y="6450438"/>
            <a:ext cx="3360811" cy="96599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11519" y="6450438"/>
            <a:ext cx="274320" cy="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</a:rPr>
              <a:t>32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</a:rPr>
              <a:t>Source: INDUSTRIAL TACO UPDATES.xlsx + HOSPITALITY TACO UPDATES.xlsx - TACO system - 2026-03-17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- Reducing Interview Drop-Off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Priority actions to recover the 23,294 workers lost at Account &gt; Verified in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2606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457200" cy="2606040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280160"/>
            <a:ext cx="347472" cy="347472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80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Audit &amp; Slim High-Question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Housekeeper (32), Bartender (30), Server (29) are 50-100% longer than the minimum.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Propose a cap: 20 questions per role for screening-only interviews (0 scored).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Target: reduce hospitality average from 22 to 18 questions.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Expected impact: faster time-to-complete, lower abandonment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669280" cy="2606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457200" cy="2606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59" y="1280160"/>
            <a:ext cx="347472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280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Score More, Screen 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373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13 of 25 roles have zero scored questions - every question is a blocker, not a filter.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Converting screening Qs into scored ones keeps length but adds quality signal.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Priority: Server, Bartender, Housekeeper - high volume, high drop-off.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Scored interviews also give recruiters ranking data to prioritize callbacks.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5669280" cy="2606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86200"/>
            <a:ext cx="457200" cy="26060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23360"/>
            <a:ext cx="347472" cy="347472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23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233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Set Expectation on the 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Workers who know the interview exists upfront don't abandon mid-flow.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Add '10-minute video interview' language to role-specific landing pages.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Specifically: highest drop-off roles (Housekeeper, Bartender, Server).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Benchmark: this tactic alone can recover 5-10pp at Account &gt; Verified.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86200"/>
            <a:ext cx="5669280" cy="26060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86200"/>
            <a:ext cx="457200" cy="2606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59" y="4023360"/>
            <a:ext cx="347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4023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0233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Track Interview Completion Rate by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4805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Currently the funnel measures Account &gt; Verified as a single step.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Instrument: 'Interview Started' and 'Interview Completed' as distinct events.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This isolates whether drop-off is pre-interview (LP/UX) or mid-interview (length).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D2D2D"/>
                </a:solidFill>
              </a:rPr>
              <a:t>  Data needed before any interview redesign can be validated.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Indeed Campaign Performance — March 2026 MTD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Campaign spend efficiency across all active client markets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57400" cy="137160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874519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2B5E"/>
                </a:solidFill>
              </a:rPr>
              <a:t>$39,683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8745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Total Spend (Matched)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057400" cy="137160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325880"/>
            <a:ext cx="1874519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2B5E"/>
                </a:solidFill>
              </a:rPr>
              <a:t>2,583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18745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Total RSVPs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2057400" cy="137160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25880"/>
            <a:ext cx="1874519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5FB5"/>
                </a:solidFill>
              </a:rPr>
              <a:t>$15.36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74519"/>
            <a:ext cx="18745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Avg Cost/RSVP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5856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188720"/>
            <a:ext cx="2057400" cy="137160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325880"/>
            <a:ext cx="1874519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</a:rPr>
              <a:t>16.1%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874519"/>
            <a:ext cx="18745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Apply &gt; RSVP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25856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Conversion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188720"/>
            <a:ext cx="2057400" cy="137160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1325880"/>
            <a:ext cx="1874519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$0.61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874519"/>
            <a:ext cx="187451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Avg CPC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Top Performers (lowest Cost/RSVP)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08960"/>
            <a:ext cx="6035040" cy="347472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1455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314553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31455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Cost/RSVP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31455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Apply&gt;RSVP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14553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RSVPs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3145536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Fill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56432"/>
            <a:ext cx="603504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51129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Legends Hospitality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351129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Dallas, TX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351129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$3.40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2" y="351129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54.3%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351129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114/275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2" y="3511296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40480"/>
            <a:ext cx="6035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89534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Stord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0512" y="3895344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Las Vegas, 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82112" y="389534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$3.63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6512" y="389534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55.1%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3895344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209/960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2" y="3895344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24528"/>
            <a:ext cx="603504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27939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CTDI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0512" y="427939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Grove City, OH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427939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$4.48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96512" y="4279392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69.6%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10912" y="4279392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80/400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42432" y="4279392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608576"/>
            <a:ext cx="6035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66344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46634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Houston, TX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466344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$4.88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96512" y="4663440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49.1%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10912" y="466344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82/300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42432" y="4663440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92624"/>
            <a:ext cx="603504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504748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Stord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10512" y="504748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Atlanta, GA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2112" y="5047488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$5.57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2" y="5047488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33.7%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0912" y="504748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122/400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42432" y="5047488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376672"/>
            <a:ext cx="6035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54315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10512" y="543153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Chicago, 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2112" y="54315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$7.57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96512" y="5431536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29.5%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0912" y="543153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167/400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42432" y="5431536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760720"/>
            <a:ext cx="603504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5815583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OnTrac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10512" y="5815583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Orlando, FL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82112" y="5815583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$7.84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96512" y="5815583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38.2%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10912" y="5815583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39/60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42432" y="5815583"/>
            <a:ext cx="493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65%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508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3D"/>
                </a:solidFill>
              </a:rPr>
              <a:t>Worst Performers (highest Cost/RSVP)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108960"/>
            <a:ext cx="585216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3145536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53312" y="314553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24912" y="314553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Cost/RSVP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47872" y="314553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App&gt;RSVP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79392" y="314553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456432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7472" y="3511296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OnTrac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53312" y="351129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S. Brunswick, NJ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24912" y="351129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$1,103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7872" y="351129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0.3%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79392" y="351129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$4.4K spend, 4 RSVPs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3840480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7472" y="3895344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Culinaire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53312" y="3895344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Dallas, TX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24912" y="3895344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$429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47872" y="3895344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0.7%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79392" y="389534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$3K spend, 7 RSVPs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4224528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7472" y="4279392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CTDI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3312" y="4279392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Haslet, TX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24912" y="4279392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$93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47872" y="4279392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79392" y="427939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$4.3K spend, 46 RSVPs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608576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4663440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Tennant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53312" y="46634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Cincinnati, OH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24912" y="4663440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$84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47872" y="466344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4.0%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79392" y="466344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$336 spend, 4 RSVPs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4992624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5047488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CORT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53312" y="5047488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Nashville, TN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24912" y="5047488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$79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547872" y="5047488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3.4%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79392" y="504748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$1.1K spend, 14 RSVPs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5376672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47472" y="5431536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Cont. Battery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53312" y="5431536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Reno, NV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24912" y="543153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$79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547872" y="543153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3.3%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79392" y="543153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$867 spend, 11 RSVPs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5760720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47472" y="5815583"/>
            <a:ext cx="859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CORT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53312" y="5815583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Las Vegas, NV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24912" y="5815583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$68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547872" y="5815583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3.1%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79392" y="5815583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$1.6K spend, 23 RSVPs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</a:rPr>
              <a:t>Source: Indeed Analytics (JobsCampaigns) + FHS Requisitions — March 1-17,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Spend Leakage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~$3.2K going to locations with no open requisition + critical funnel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3D"/>
                </a:solidFill>
              </a:rPr>
              <a:t>Spend with No Open Requisition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These campaigns are spending money with no matching job in FHS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852160" cy="347472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86537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865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6537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86537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Apply 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186537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76272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23113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Ingram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23113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La Vergne, 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3113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$1,056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23113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527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23113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No open req found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60320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615184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Johnstone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261518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Lancaster, 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2615184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2615184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615184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No open req found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44368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2999232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CORT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299923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Rhino, 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2999232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$490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2999232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2999232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No open req found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28415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383279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Evergreen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38327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Austin/Dallas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2" y="3383279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$481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3383279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216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3383279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Brand campaigns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12463"/>
            <a:ext cx="58521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767327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BTX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376732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Austin, TX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3767327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$231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3767327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9392" y="3767327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No open req found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96512"/>
            <a:ext cx="5852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151376"/>
            <a:ext cx="950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Hyatt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4752" y="4151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Atlanta, GA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24912" y="4151376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$227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432" y="4151376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4151376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No open req found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297680"/>
            <a:ext cx="5760720" cy="411480"/>
          </a:xfrm>
          <a:prstGeom prst="rect">
            <a:avLst/>
          </a:prstGeom>
          <a:solidFill>
            <a:srgbClr val="FF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7263D"/>
                </a:solidFill>
              </a:rPr>
              <a:t>Total wasted: ~$2,985 on campaigns with no matching open requisition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188720"/>
            <a:ext cx="5486400" cy="512064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1188720"/>
            <a:ext cx="73152" cy="51206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132588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E"/>
                </a:solidFill>
              </a:rPr>
              <a:t>Key Findings</a:t>
            </a:r>
          </a:p>
          <a:p>
            <a:pPr algn="l">
              <a:spcBef>
                <a:spcPts val="1000"/>
              </a:spcBef>
            </a:p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D7263D"/>
                </a:solidFill>
              </a:rPr>
              <a:t>  1. OnTrac South Brunswick burning $4.4K for 4 RSVPs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     Apply&gt;RSVP rate is 0.3% — 1,309 people start applying but almost none RSVP. Something is broken in the flow for this location.</a:t>
            </a:r>
          </a:p>
          <a:p>
            <a:pPr algn="l">
              <a:spcBef>
                <a:spcPts val="1000"/>
              </a:spcBef>
            </a:p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5A623"/>
                </a:solidFill>
              </a:rPr>
              <a:t>  2. CTDI Haslet absorbs 8.4% of total spend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     $4.3K with only 2.4% Apply&gt;RSVP — worst ratio among high-spend locations.</a:t>
            </a:r>
          </a:p>
          <a:p>
            <a:pPr algn="l">
              <a:spcBef>
                <a:spcPts val="1000"/>
              </a:spcBef>
            </a:p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27AE60"/>
                </a:solidFill>
              </a:rPr>
              <a:t>  3. Efficiency winners under $6/RSVP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     Legends ($3.40), Stord LV ($3.63), CTDI Grove City ($4.48), CORT Houston ($4.88) — all with 30-70% Apply&gt;RSVP rates.</a:t>
            </a:r>
          </a:p>
          <a:p>
            <a:pPr algn="l">
              <a:spcBef>
                <a:spcPts val="1000"/>
              </a:spcBef>
            </a:pP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D7263D"/>
                </a:solidFill>
              </a:rPr>
              <a:t>  4. ~$3K going to locations with no open req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2D2D2D"/>
                </a:solidFill>
              </a:rPr>
              <a:t>     Ingram, Johnstone, BTX, Hyatt, Evergreen — potential wasted spend or campaigns not yet linked to requisitions.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</a:rPr>
              <a:t>Source: Indeed Analytics + FHS Requisitions — March 1-17,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Las Vegas Hiring Events — March 11 &amp;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8FF"/>
                </a:solidFill>
              </a:rPr>
              <a:t>2 events held | 187 invited | 89 arrived (48%) | 91 workers cleared for shifts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5740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8745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2B5E"/>
                </a:solidFill>
              </a:rPr>
              <a:t>187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Total Invited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87244"/>
            <a:ext cx="18745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Across 2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188720"/>
            <a:ext cx="205740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325880"/>
            <a:ext cx="18745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5FB5"/>
                </a:solidFill>
              </a:rPr>
              <a:t>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Total Arrived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87244"/>
            <a:ext cx="18745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48% show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188720"/>
            <a:ext cx="205740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325880"/>
            <a:ext cx="18745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82880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DT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87244"/>
            <a:ext cx="18745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96% of arrivals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188720"/>
            <a:ext cx="205740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325880"/>
            <a:ext cx="18745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7AE60"/>
                </a:solidFill>
              </a:rPr>
              <a:t>91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82880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Workers Cleared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187244"/>
            <a:ext cx="18745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Incl. 6 DT-only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188720"/>
            <a:ext cx="205740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1325880"/>
            <a:ext cx="187451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7263D"/>
                </a:solidFill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82880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</a:rPr>
              <a:t>No-Show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2187244"/>
            <a:ext cx="187451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</a:rPr>
              <a:t>98 did not arrive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651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B5E"/>
                </a:solidFill>
              </a:rPr>
              <a:t>Event Comparison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71800"/>
            <a:ext cx="5486400" cy="347472"/>
          </a:xfrm>
          <a:prstGeom prst="rect">
            <a:avLst/>
          </a:prstGeom>
          <a:solidFill>
            <a:srgbClr val="00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00837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3008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Mar 11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3008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Mar 16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008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Combined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19272"/>
            <a:ext cx="548640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3741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Invited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337413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3552" y="337413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37413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187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03320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758183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Arrived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3758183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43 (41%)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3758183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46 (55%)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3758183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89 (48%)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087368"/>
            <a:ext cx="548640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142231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DT Passed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3392" y="4142231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40 (93%)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3552" y="4142231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</a:rPr>
              <a:t>45 (98%)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4142231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85 (96%)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471416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526279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DT Failed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3392" y="452627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452627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4526279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855464"/>
            <a:ext cx="548640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910327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ACP Completed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3392" y="491032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3552" y="491032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44 (96%)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491032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239512"/>
            <a:ext cx="54864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529437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Skilled (noted)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93392" y="5294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3552" y="5294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529437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623560"/>
            <a:ext cx="548640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" y="567842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7263D"/>
                </a:solidFill>
              </a:rPr>
              <a:t>No-Shows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93392" y="567842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61 (59%)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73552" y="567842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37 (45%)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53712" y="567842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98 (52%)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B5E"/>
                </a:solidFill>
              </a:rPr>
              <a:t>Client Preference (Mar 16)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263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</a:rPr>
              <a:t>Stord: 34  |  CORT: 6  |  Both: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2651760"/>
            <a:ext cx="5897880" cy="3931920"/>
          </a:xfrm>
          <a:prstGeom prst="rect">
            <a:avLst/>
          </a:prstGeom>
          <a:solidFill>
            <a:srgbClr val="F4F6F9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89320" y="2651760"/>
            <a:ext cx="73152" cy="3931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27432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E"/>
                </a:solidFill>
              </a:rPr>
              <a:t>Recruiter Feedback (Marcus)</a:t>
            </a:r>
          </a:p>
          <a:p>
            <a:pPr algn="l">
              <a:spcBef>
                <a:spcPts val="600"/>
              </a:spcBef>
            </a:pP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7263D"/>
                </a:solidFill>
              </a:rPr>
              <a:t>  AI Interview Blocker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2D2D2D"/>
                </a:solidFill>
              </a:rPr>
              <a:t>  Flexers had scheduled interviews blocking on-the-spot AI interviews. ~12 workers waited while workaround was found (cancel via email → reopen in app). Recruiting team had to conduct in-person interviews to prevent further delays.</a:t>
            </a:r>
          </a:p>
          <a:p>
            <a:pPr algn="l">
              <a:spcBef>
                <a:spcPts val="600"/>
              </a:spcBef>
            </a:pP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5A623"/>
                </a:solidFill>
              </a:rPr>
              <a:t>  Interview Expectation Gap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2D2D2D"/>
                </a:solidFill>
              </a:rPr>
              <a:t>  Almost every flexer expected an interview at the event, defeating the purpose of AI interviews (complete anytime at convenience). Recommend: require interview completion BEFORE event or advise clearly in invitation.</a:t>
            </a:r>
          </a:p>
          <a:p>
            <a:pPr algn="l">
              <a:spcBef>
                <a:spcPts val="600"/>
              </a:spcBef>
            </a:pP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05FB5"/>
                </a:solidFill>
              </a:rPr>
              <a:t>  Venue &amp; Logistics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2D2D2D"/>
                </a:solidFill>
              </a:rPr>
              <a:t>  Address change likely caused lower attendance. No Indeed Flex signage present. Meeting rooms used for privacy, but some flexers preferred car/outside. Need dedicated interview space for future events.</a:t>
            </a:r>
          </a:p>
          <a:p>
            <a:pPr algn="l">
              <a:spcBef>
                <a:spcPts val="600"/>
              </a:spcBef>
            </a:pP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7AE60"/>
                </a:solidFill>
              </a:rPr>
              <a:t>  Process Improvement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2D2D2D"/>
                </a:solidFill>
              </a:rPr>
              <a:t>  Google Sheet check-in worked well — recommend pre-building for all events. Only ~2 people came specifically for DT. Document verification team needs company phone number (not personal devices).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</a:rPr>
              <a:t>Source: Check In Hiring Event.xlsx + Recruiter feedback (Marcus) —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